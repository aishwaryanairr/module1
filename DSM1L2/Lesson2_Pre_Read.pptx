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AE1D1"/>
                </a:solidFill>
                <a:latin typeface="Aptos"/>
              </a:defRPr>
            </a:pPr>
            <a:r>
              <a:t>A SHORT READ BEFORE OUR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Python: Operators</a:t>
            </a:r>
            <a:br/>
            <a:r>
              <a:t>&amp;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DCE7F5"/>
                </a:solidFill>
                <a:latin typeface="Aptos"/>
              </a:defRPr>
            </a:pPr>
            <a:r>
              <a:t>Let’s explore how a snack shop can use Python.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9834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DCE7F5"/>
                </a:solidFill>
                <a:latin typeface="Aptos"/>
              </a:defRPr>
            </a:pPr>
            <a:r>
              <a:t>You do not need to memorize anything. Just get familiar with the ideas.</a:t>
            </a:r>
          </a:p>
        </p:txBody>
      </p:sp>
      <p:sp>
        <p:nvSpPr>
          <p:cNvPr id="6" name="Oval 5"/>
          <p:cNvSpPr/>
          <p:nvPr/>
        </p:nvSpPr>
        <p:spPr>
          <a:xfrm>
            <a:off x="7909560" y="1508760"/>
            <a:ext cx="749808" cy="749808"/>
          </a:xfrm>
          <a:prstGeom prst="ellipse">
            <a:avLst/>
          </a:prstGeom>
          <a:solidFill>
            <a:srgbClr val="3B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8961120" y="1508760"/>
            <a:ext cx="749808" cy="749808"/>
          </a:xfrm>
          <a:prstGeom prst="ellipse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10012680" y="1508760"/>
            <a:ext cx="749808" cy="749808"/>
          </a:xfrm>
          <a:prstGeom prst="ellipse">
            <a:avLst/>
          </a:prstGeom>
          <a:solidFill>
            <a:srgbClr val="F7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How to use this pre-read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7588"/>
                </a:solidFill>
                <a:latin typeface="Aptos"/>
              </a:defRPr>
            </a:pPr>
            <a:r>
              <a:t>This is a first look—not a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42316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1 •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29260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Go through the slides at your own 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42316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993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2 • Notice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29260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rPr dirty="0"/>
              <a:t>Look at the examples and think what they mean.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242316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993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B84B"/>
                </a:solidFill>
                <a:latin typeface="Aptos"/>
              </a:defRPr>
            </a:pPr>
            <a:r>
              <a:t>3 • Bring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68880"/>
            <a:ext cx="292608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rPr dirty="0"/>
              <a:t>Bring one question or one thing you noticed to class.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C2B48"/>
                </a:solidFill>
                <a:latin typeface="Aptos"/>
              </a:defRPr>
            </a:pPr>
            <a:r>
              <a:rPr dirty="0"/>
              <a:t>It is completely okay if some ideas feel new. We will </a:t>
            </a:r>
            <a:r>
              <a:rPr dirty="0" err="1"/>
              <a:t>practise</a:t>
            </a:r>
            <a:r>
              <a:rPr dirty="0"/>
              <a:t>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Our example: a small snack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7588"/>
                </a:solidFill>
                <a:latin typeface="Aptos"/>
              </a:defRPr>
            </a:pPr>
            <a:r>
              <a:t>Imagine you are helping a shop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C2B48"/>
                </a:solidFill>
                <a:latin typeface="Aptos"/>
              </a:defRPr>
            </a:pPr>
            <a:r>
              <a:t>🍟  CHIPS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88920"/>
            <a:ext cx="3154680" cy="164592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9535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2900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$2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88920"/>
            <a:ext cx="3154680" cy="164592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9535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Packets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2900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788920"/>
            <a:ext cx="3154680" cy="164592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953512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B84B"/>
                </a:solidFill>
                <a:latin typeface="Aptos"/>
              </a:defRPr>
            </a:pPr>
            <a:r>
              <a:t>Available?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429000"/>
            <a:ext cx="2697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2A3444"/>
                </a:solidFill>
                <a:latin typeface="Aptos"/>
              </a:defRPr>
            </a:pPr>
            <a:r>
              <a:rPr dirty="0"/>
              <a:t>Python can store these details and help the manager make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IDEA 1 • STORING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A variable is a labelled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7588"/>
                </a:solidFill>
                <a:latin typeface="Aptos"/>
              </a:defRPr>
            </a:pPr>
            <a:r>
              <a:rPr dirty="0"/>
              <a:t>Python uses a name to remember a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029200" cy="237744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Example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 Mono"/>
              </a:defRPr>
            </a:pPr>
            <a:r>
              <a:t>snack_name = "Chips"</a:t>
            </a:r>
            <a:br/>
            <a:r>
              <a:t>price = 2</a:t>
            </a:r>
            <a:br/>
            <a:r>
              <a:t>quantity =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74920" cy="237744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93392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Read it like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617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snack_name stores the text Chips.</a:t>
            </a:r>
            <a:br/>
            <a:r>
              <a:t>price stores 2.</a:t>
            </a:r>
            <a:br/>
            <a:r>
              <a:t>quantity stores 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2412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C2B48"/>
                </a:solidFill>
                <a:latin typeface="Aptos"/>
              </a:defRPr>
            </a:pPr>
            <a:r>
              <a:rPr lang="en-US" sz="2100" b="1" i="1" dirty="0"/>
              <a:t>Think of a variable as a box with a name. Python uses that name to remember the value stored inside the box.</a:t>
            </a:r>
            <a:endParaRPr lang="en-US" sz="21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IDEA 2 •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Values can be different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65176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Text (str)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"Chips"</a:t>
            </a:r>
            <a:br/>
            <a:r>
              <a:t>A word or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828800"/>
            <a:ext cx="265176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49039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Whole number (int)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688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5</a:t>
            </a:r>
            <a:br/>
            <a:r>
              <a:t>A number without a decimal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265176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993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B84B"/>
                </a:solidFill>
                <a:latin typeface="Aptos"/>
              </a:defRPr>
            </a:pPr>
            <a:r>
              <a:t>Decimal (float)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2.50</a:t>
            </a:r>
            <a:br/>
            <a:r>
              <a:t>A number with a decimal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828800"/>
            <a:ext cx="233172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99339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Boolean (bool)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468880"/>
            <a:ext cx="18745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True / False</a:t>
            </a:r>
            <a:br/>
            <a:r>
              <a:t>Yes or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687588"/>
                </a:solidFill>
                <a:latin typeface="Aptos"/>
              </a:defRPr>
            </a:pPr>
            <a:r>
              <a:t>Python uses the type to understand what kind of value it is working with.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IDEA 3 •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Operators help Python do a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7588"/>
                </a:solidFill>
                <a:latin typeface="Aptos"/>
              </a:defRPr>
            </a:pPr>
            <a:r>
              <a:rPr dirty="0"/>
              <a:t>An operator is a symbol that tells Python what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Add: 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2 + 3 = 5</a:t>
            </a:r>
            <a:br/>
            <a:r>
              <a:t>Use + to add numbers.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1208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Multiply: 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$2 × 5 packets = $10</a:t>
            </a:r>
            <a:br/>
            <a:r>
              <a:t>In Python, use * for multiply.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2B48"/>
                </a:solidFill>
                <a:latin typeface="Aptos"/>
              </a:defRPr>
            </a:pPr>
            <a:r>
              <a:rPr dirty="0"/>
              <a:t>Shop question: If one packet costs $2 and you buy 5, what is the total?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IDEA 4 •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Comparisons ask a yes/no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Less than: 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2 &lt; 5</a:t>
            </a:r>
            <a:br/>
            <a:r>
              <a:t>True (yes)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993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Greater than: 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7 &gt; 5</a:t>
            </a:r>
            <a:br/>
            <a:r>
              <a:t>True (yes)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25146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993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7B84B"/>
                </a:solidFill>
                <a:latin typeface="Aptos"/>
              </a:defRPr>
            </a:pPr>
            <a:r>
              <a:t>Equal to: ==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6888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2 == 2</a:t>
            </a:r>
            <a:br/>
            <a:r>
              <a:t>True (yes)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C2B48"/>
                </a:solidFill>
                <a:latin typeface="Aptos"/>
              </a:defRPr>
            </a:pPr>
            <a:r>
              <a:rPr dirty="0"/>
              <a:t>A comparison gives an answer of True or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IDEA 5 •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A condition can lead to an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83464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Python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 Mono"/>
              </a:defRPr>
            </a:pPr>
            <a:r>
              <a:t>quantity = 2</a:t>
            </a:r>
            <a:br/>
            <a:r>
              <a:t>if quantity &lt; 5:</a:t>
            </a:r>
            <a:br/>
            <a:r>
              <a:t>    print('Restock chips')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283464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What does it mean?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Is quantity less than 5?</a:t>
            </a:r>
            <a:br/>
            <a:r>
              <a:t>Yes → True</a:t>
            </a:r>
            <a:br/>
            <a:r>
              <a:t>So Python displays:</a:t>
            </a:r>
            <a:br/>
            <a:r>
              <a:t>Restock chips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687588"/>
                </a:solidFill>
                <a:latin typeface="Aptos"/>
              </a:defRPr>
            </a:pPr>
            <a:r>
              <a:rPr dirty="0"/>
              <a:t>The shop manager can use a condition to decide what to do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IDEA 6 •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Python can also work with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60604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Join text with 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 Mono"/>
              </a:defRPr>
            </a:pPr>
            <a:r>
              <a:t>shop = 'Quick ' + 'Bites'</a:t>
            </a:r>
            <a:br/>
            <a:br/>
            <a:r>
              <a:t>Result: Quick Bites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260604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Count text with len()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 Mono"/>
              </a:defRPr>
            </a:pPr>
            <a:r>
              <a:t>name = 'Chips'</a:t>
            </a:r>
            <a:br/>
            <a:r>
              <a:t>len(name)</a:t>
            </a:r>
            <a:br/>
            <a:br/>
            <a:r>
              <a:t>Result: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2B48"/>
                </a:solidFill>
                <a:latin typeface="Aptos"/>
              </a:defRPr>
            </a:pPr>
            <a:r>
              <a:t>Text is called a string. We can join it or count its characters.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PRE-READ • PYTHON LESSON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Indexing: choose one character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7588"/>
                </a:solidFill>
                <a:latin typeface="Aptos"/>
              </a:defRPr>
            </a:pPr>
            <a:r>
              <a:t>Indexing lets us get one character from a piece of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242316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993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Example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45720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 Mono"/>
              </a:defRPr>
            </a:pPr>
            <a:r>
              <a:t>name = 'Chips'</a:t>
            </a:r>
            <a:br/>
            <a:r>
              <a:t>print(name[0])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257800" cy="242316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993392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What does [0] mean?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80060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The number inside [ ] is the index.</a:t>
            </a:r>
            <a:br/>
            <a:r>
              <a:t>Index 0 means the first character.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C2B48"/>
                </a:solidFill>
                <a:latin typeface="Aptos"/>
              </a:defRPr>
            </a:pPr>
            <a:r>
              <a:t>Each character has a position (index):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5074920"/>
            <a:ext cx="868680" cy="566928"/>
          </a:xfrm>
          <a:prstGeom prst="roundRect">
            <a:avLst/>
          </a:prstGeom>
          <a:solidFill>
            <a:srgbClr val="3B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6692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4998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5074920"/>
            <a:ext cx="868680" cy="566928"/>
          </a:xfrm>
          <a:prstGeom prst="roundRect">
            <a:avLst/>
          </a:prstGeom>
          <a:solidFill>
            <a:srgbClr val="E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2B48"/>
                </a:solidFill>
              </a:defRPr>
            </a:pPr>
            <a: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56692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4998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5074920"/>
            <a:ext cx="868680" cy="566928"/>
          </a:xfrm>
          <a:prstGeom prst="roundRect">
            <a:avLst/>
          </a:prstGeom>
          <a:solidFill>
            <a:srgbClr val="E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2B48"/>
                </a:solidFill>
              </a:defRPr>
            </a:pPr>
            <a: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6692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4998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5074920"/>
            <a:ext cx="868680" cy="566928"/>
          </a:xfrm>
          <a:prstGeom prst="roundRect">
            <a:avLst/>
          </a:prstGeom>
          <a:solidFill>
            <a:srgbClr val="E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2B48"/>
                </a:solidFill>
              </a:defRPr>
            </a:pPr>
            <a: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56692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4998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074920"/>
            <a:ext cx="868680" cy="566928"/>
          </a:xfrm>
          <a:prstGeom prst="roundRect">
            <a:avLst/>
          </a:prstGeom>
          <a:solidFill>
            <a:srgbClr val="E0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2B48"/>
                </a:solidFill>
              </a:defRPr>
            </a:pPr>
            <a: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6692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4998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87588"/>
                </a:solidFill>
                <a:latin typeface="Aptos"/>
              </a:defRPr>
            </a:pPr>
            <a:r>
              <a:t>name[0] gives C   •   name[1] gives h   •   name[4] gives 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A LITTLE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Think about these before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7588"/>
                </a:solidFill>
                <a:latin typeface="Aptos"/>
              </a:defRPr>
            </a:pPr>
            <a:r>
              <a:t>You can answer in your head or talk it through with someone.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29718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7548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rPr dirty="0"/>
              <a:t>A snack costs $3. You buy 2.</a:t>
            </a:r>
            <a:br>
              <a:rPr dirty="0"/>
            </a:br>
            <a:r>
              <a:rPr lang="en-US" dirty="0"/>
              <a:t>Write python code to find </a:t>
            </a:r>
            <a:r>
              <a:rPr dirty="0"/>
              <a:t>total?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12080" cy="297180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rPr dirty="0"/>
              <a:t>There are 2 packets left.</a:t>
            </a:r>
            <a:br>
              <a:rPr dirty="0"/>
            </a:br>
            <a:r>
              <a:rPr dirty="0"/>
              <a:t>Is 2 &lt; 5 True or False?</a:t>
            </a:r>
            <a:br>
              <a:rPr dirty="0"/>
            </a:br>
            <a:r>
              <a:rPr lang="en-US" dirty="0"/>
              <a:t>Write python code to print whether restock is need based on the number of packets left</a:t>
            </a:r>
          </a:p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2B48"/>
                </a:solidFill>
                <a:latin typeface="Aptos"/>
              </a:defRPr>
            </a:pPr>
            <a:r>
              <a:t>We will discuss the answers during 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4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4998F"/>
                </a:solidFill>
                <a:latin typeface="Aptos"/>
              </a:defRPr>
            </a:pPr>
            <a:r>
              <a:t>PRE-READ • PYTHON 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C2B48"/>
                </a:solidFill>
                <a:latin typeface="Aptos"/>
              </a:defRPr>
            </a:pPr>
            <a:r>
              <a:t>Swapping: switch two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7588"/>
                </a:solidFill>
                <a:latin typeface="Aptos"/>
              </a:defRPr>
            </a:pPr>
            <a:r>
              <a:t>We may explore this idea together during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69748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70B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 Mono"/>
              </a:defRPr>
            </a:pPr>
            <a:r>
              <a:rPr dirty="0"/>
              <a:t>a = 2</a:t>
            </a:r>
            <a:br>
              <a:rPr dirty="0"/>
            </a:br>
            <a:r>
              <a:rPr dirty="0"/>
              <a:t>b = 5</a:t>
            </a:r>
            <a:br>
              <a:rPr dirty="0"/>
            </a:br>
            <a:r>
              <a:rPr dirty="0"/>
              <a:t>temp = a</a:t>
            </a:r>
            <a:br>
              <a:rPr dirty="0"/>
            </a:br>
            <a:r>
              <a:rPr dirty="0" err="1"/>
              <a:t>a</a:t>
            </a:r>
            <a:r>
              <a:rPr dirty="0"/>
              <a:t> = b</a:t>
            </a:r>
            <a:br>
              <a:rPr dirty="0"/>
            </a:br>
            <a:r>
              <a:rPr dirty="0" err="1"/>
              <a:t>b</a:t>
            </a:r>
            <a:r>
              <a:rPr dirty="0"/>
              <a:t> = temp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2697480"/>
          </a:xfrm>
          <a:prstGeom prst="roundRect">
            <a:avLst/>
          </a:prstGeom>
          <a:solidFill>
            <a:srgbClr val="F2F7FD"/>
          </a:solidFill>
          <a:ln>
            <a:solidFill>
              <a:srgbClr val="DE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998F"/>
                </a:solidFill>
                <a:latin typeface="Aptos"/>
              </a:defRPr>
            </a:pPr>
            <a:r>
              <a:t>Follow the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rPr dirty="0"/>
              <a:t>temp keeps 2 safe</a:t>
            </a:r>
            <a:br>
              <a:rPr dirty="0"/>
            </a:br>
            <a:r>
              <a:rPr dirty="0"/>
              <a:t>a becomes 5</a:t>
            </a:r>
            <a:br>
              <a:rPr dirty="0"/>
            </a:br>
            <a:r>
              <a:rPr dirty="0"/>
              <a:t>b becomes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2B48"/>
                </a:solidFill>
                <a:latin typeface="Aptos"/>
              </a:defRPr>
            </a:pPr>
            <a:r>
              <a:t>Think of temp as a temporary holding box. No need to learn this yet.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87588"/>
                </a:solidFill>
                <a:latin typeface="Aptos"/>
              </a:defRPr>
            </a:pPr>
            <a:r>
              <a:t>READ A LITTLE  •  THINK  •  BRING A QUESTION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915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Aishwarya Nair</cp:lastModifiedBy>
  <cp:revision>3</cp:revision>
  <dcterms:created xsi:type="dcterms:W3CDTF">2013-01-27T09:14:16Z</dcterms:created>
  <dcterms:modified xsi:type="dcterms:W3CDTF">2026-10-05T06:14:32Z</dcterms:modified>
  <cp:category/>
</cp:coreProperties>
</file>